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Synthesis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C/C++ to Verilog — Theory &amp; Practice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→ Intermediate Training Course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3-Day Workshop  •  Open-Source EDA  •  Bambu HLS + Yosys + OpenROAD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0033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— Theory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HLS? (vs RTL)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Compilation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Scheduling, Binding, Allocation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Style &amp; Directives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Synthesis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Bambu + Yosys + OpenROAD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4A658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solidFill>
            <a:srgbClr val="4A6584"/>
          </a:solidFill>
          <a:ln w="12700">
            <a:solidFill>
              <a:srgbClr val="4A65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— Practice 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Simple Adder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FIR Filter (PIPELINE)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MatMul (PARTITION)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Dataflow Streaming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Reports &amp; Tradeoffs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C/RTL Co-simulation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3474720"/>
          </a:xfrm>
          <a:prstGeom prst="rect">
            <a:avLst/>
          </a:prstGeom>
          <a:solidFill>
            <a:srgbClr val="F5F7FA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517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234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— Practice II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COCOTB Verification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OpenROAD Flow (IHP / SKY130)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Recipe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Pitfalls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Project: Sobel Filter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Q&amp;A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Synthesis คืออะไร?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=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กระบวนการแปลงภาษาระดับสูง (C / C++ / SystemC) 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ไปเป็น Register-Transfer Level (RTL/Verilog) โดยอัตโนมัติ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แนวคิดหลัก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 ทำอะไร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นักออกแบบอธิบาย algorithm ในระดับสูง: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การคำนวณ (a + 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โครงสร้างข้อมูล (array, stream)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ลำดับ (loop, if-else)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Optimization hints (pragma)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743200"/>
            <a:ext cx="3931920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 ทำอย่างไร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20040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tool ตัดสินใจ: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Scheduling (จัดสรรเวลา)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allocation (เลือกฮาร์ดแวร์)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Binding (map operation → unit)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architecture (BRAM, register)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Design vs High-Level Synthesis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มิติ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Design (Manual)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High-Level Synthesis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ภาษา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Verilog / VHDL / SystemVerilog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/ C++ / SystemC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ระดับนามธรรม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Cycle-accurate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Algorithmic / behavioral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เวลาในการออกแบบ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ช้า (วัน–สัปดาห์/บล็อก)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เร็ว (ชั่วโมง)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ควบคุม micro-arch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เต็มที่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ผ่าน directives/pragmas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Space Exploration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เขียน RTL หลายเวอร์ชัน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เปลี่ยน directive แล้วรันใหม่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QoR (Area/Timing)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ขึ้นกับความเชี่ยวชาญ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ดีใกล้เคียงกันเมื่อปรับ directive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HDL testbench แยก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testbench ใช้ร่วมได้ (C/RTL co-sim)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เครื่องมือ HLS ในปัจจุบัน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Vitis HLS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AMD/Xilinx  •  FPGA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HLS Compiler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 •  FPGA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Catapult HLS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Siemens EDA  •  ASIC / FPGA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Stratus HLS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  •  ASIC / FPGA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38328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HLS ⭐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Politecnico di Milano  •  ASIC / FPGA / OpenROAD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Dynamatic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EPFL  •  ASIC (research)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LegUp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Univ. of Toronto  •  FPGA (research, legacy)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474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hls4ml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CERN / CMU  •  ML on FPGA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หลักสูตรนี้ใช้ Bambu — เป็น open-source เชื่อมต่อ Yosys + OpenROAD ได้โดยตรง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 Compilation 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371600"/>
            <a:ext cx="1554480" cy="12801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011680" y="1371600"/>
            <a:ext cx="1554480" cy="12801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417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+ AST + CFG + IR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1554480" cy="12801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417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H-level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Inline, unroll, opt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03520" y="1371600"/>
            <a:ext cx="1554480" cy="1280160"/>
          </a:xfrm>
          <a:prstGeom prst="rect">
            <a:avLst/>
          </a:prstGeom>
          <a:solidFill>
            <a:srgbClr val="4A6584"/>
          </a:solidFill>
          <a:ln w="12700">
            <a:solidFill>
              <a:srgbClr val="4A65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417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+ Bind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+ Resource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12280" y="178308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71600"/>
            <a:ext cx="1554480" cy="12801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417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Verilog/VHDL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240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 + Datapath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33375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ใช้ compiler infrastructure (clang/gcc) เพื่อ parse + IR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H-level Transform เตรียมโครงสร้างให้ scheduler เห็น optimization opportunities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ตัดสินใจ "เวลา" — แต่ละ operation ทำใน cycle ใด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ตัดสินใจ "ทรัพยากร" — operation ไหนใช้ functional unit ไหน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Generation สร้าง FSM + Datapath + Memory +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30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— จัดสรร "เวลา"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โจทย์: ตัดสินใจว่าแต่ละ operation ทำงานใน clock cycle ใด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b;
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= c * d;
</a:t>
            </a:r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e + 1;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34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(adder=1cy, mul=2cy):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828800"/>
          <a:ext cx="4023360" cy="13716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822960"/>
                <a:gridCol w="82296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Algorithms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ASAP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Soon As Possible — เร็วสุดเท่าที่ data deps อนุญาต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6344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ALAP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Late As Possible — ยืดเวลาให้ใช้ resource น้อย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Scheduling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Priority-based — เร็วและนิยมที่สุด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66344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Force-Directed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กระจายงานสม่ำเสมอ ลด resource peak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&amp; Binding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เลือกว่าจะมี functional unit อะไรบ้าง เช่น: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2× adder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1× multiplier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1× BRAM (256 words)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32× register file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operation แต่ละตัวไปยัง unit: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Op1: a+b → adder_0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Op3: e+1 → adder_0 (share)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Op2: c*d → mult_0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39319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resource (1 adder)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Area น้อย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Power ต่ำ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Latency เพิ่ม (ต้องรอ)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10896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 share (2 adders)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Latency น้อย (ทำขนาน)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Throughput สูง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Area เพิ่ม 2 เท่า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Style สำหรับ HLS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bound ต้องรู้ตอน compile-time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02336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26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(int i = 0; i &lt; n; i++)  // n จาก input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89888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426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#pragma HLS LOOP_TRIPCOUNT min=8 max=64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aliasing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402336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951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void foo(int* a, int* b) { *a = *b + 1; 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258568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951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void foo(int* restrict a, int* restrict b) { *a = *b + 1;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memory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402336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638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int* buf = malloc(N * sizeof(int));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6382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int buf[1024];  // static array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function = design entry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95928"/>
            <a:ext cx="402336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325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// synthesize ทั้งโปรแกรม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995928"/>
            <a:ext cx="402336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0325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void dut(int a, int b, int* c) { *c = a + b; }  // top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Precision Data Types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C/C++ int = 32-bit เสมอ — ไม่ตรงกับ hardware จริง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2743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(Vitis HLS)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"ap_int.h"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ap_int&lt;8&gt;   x;      // signed 8-bit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ap_uint&lt;16&gt; y;     // unsigned 16-bit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ap_fixed&lt;16,8&gt; fx; // Q8.8 fixed-point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08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(ac_types)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"ac_int.h"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ac_int&lt;8,false&gt; x;  // unsigned 8-bit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ac_int&lt;8,true&gt;  y;  // signed 8-bit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ac_fixed&lt;16,8,true,AC_RND,AC_SAT&gt; fx;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เคล็ดลับ: 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type เล็กที่สุดเท่าที่จำเป็น → ลด area, เร็วขึ้น, power ต่ำลง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Directive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เร่ง throughput — ทำให้ loop ใหม่เริ่มได้ทุก ๆ II cycles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5720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foo(int a[16], int b[16], int c[16]) {
</a:t>
            </a:r>
            <a:pPr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PIPELINE II=1
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16; i++) {
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c[i] = a[i] + b[i];
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
</a:t>
            </a:r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828800"/>
          <a:ext cx="3474720" cy="155448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PIPELINE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II=1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AF5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Initiation Interval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Throughput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1/16 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1/cyc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LUTs (approx)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44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II=1 = เร็วสุด (1 iteration ต่อ cycle)
</a:t>
            </a:r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 II ไม่ลด — HLS จะบอก minimum II ที่ทำได้
</a:t>
            </a:r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 resource (UNROLL) เพื่อให้ II ลดลง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UNROLL &amp; ARRAY_PARTITION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hardware ซ้ำหลายชุดเพื่อทำงานขนาน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657600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UNROLL factor=4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16; i++) {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c[i] = a[i] * b[i];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factor=N → unroll N ครั้ง (N× units)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ไม่มี factor → unroll เต็ม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Cost: area เพิ่ม, Benefit: throughput เพิ่ม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ARRAY_PARTITION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แบ่ง array เพื่อเข้าถึงหลาย element พร้อมกัน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874520"/>
            <a:ext cx="3657600" cy="12801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9659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buf[16];
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ARRAY_PARTITION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variable=buf complete
</a:t>
            </a:r>
            <a:pPr indent="0" marL="0">
              <a:buNone/>
            </a:pPr>
            <a:r>
              <a:rPr lang="en-US" sz="110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buf[0..15] คนละ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— แยกทุก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factor=N — แบ่ง block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cyclic factor=N — round-robin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— Task-Level Parallelism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ทำให้ function หลาย ๆ ตัวทำงานพร้อมกัน โดยเชื่อมด้วย hls::stream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97280" cy="7315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1554480"/>
            <a:ext cx="1097280" cy="7315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600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37560" y="1783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931920" y="1554480"/>
            <a:ext cx="1097280" cy="7315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6002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Timeline: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4572000" cy="13716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cyc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212080" y="2560320"/>
            <a:ext cx="347472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265176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pipeline(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hls::stream&lt;int&gt;&amp; in,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hls::stream&lt;int&gt;&amp; out) {
</a:t>
            </a:r>
            <a:pPr indent="0" marL="0">
              <a:buNone/>
            </a:pPr>
            <a:r>
              <a:rPr lang="en-US" sz="10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DATAFLOW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stage1(in, mid1);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stage2(mid1, mid2);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stage3(mid2, out);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Synthesis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Block-Level (default)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ap_start (in)  •  ap_done (out)  •  ap_idle (out)  •  ap_ready (out)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37160" cy="6858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402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Memory-Mapped (AXI)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access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Register, control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71800"/>
            <a:ext cx="137160" cy="6858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017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(FIFO)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Pixel, audio, packet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49040"/>
            <a:ext cx="137160" cy="6858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RAM  </a:t>
            </a:r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On-chip storage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Buffer, lookup table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HLS — Open-Source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ทำไมเลือก Bambu สำหรับหลักสูตรนี้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Open-source (GPL) — ไม่ผูกกับ vendor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รับ C/C++ → Verilog/VHDL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ออกแบบมาเพื่อ ASIC flow (ไม่ใช่แค่ FPGA)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ใช้ร่วมกับ Yosys + OpenROAD ได้โดยตรง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Co-simulation กับ Verilator/Icarus/ModelSim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ไม่ผูกกับ Vivado/Catapult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463040"/>
            <a:ext cx="384048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(Ubuntu/WSL2)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sudo apt-get install -y \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build-essential gcc g++ \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autoconf libtool \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libboost-all-dev libtcl-dev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ferrandi/PandA-bambu.git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PandA-bambu &amp;&amp; make -j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2926080"/>
            <a:ext cx="384048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32461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bambu \
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--top-fname=adder \
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--clock-period=10 \
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--simulate \
</a:t>
            </a:r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adder.c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Adder — Hello World of HLS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แปลงฟังก์ชันบวกเลขง่าย ๆ จาก C เป็น Verilog และตรวจสอบ RTL ที่ได้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57200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adder.c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4297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adder(int a, int b, int* c) {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*c = a + b;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main() {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c;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adder(5, 7, &amp;c);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 != 12) return 1;  // FAIL
</a:t>
            </a:r>
            <a:pPr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// PASS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Results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194560"/>
          <a:ext cx="347472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cyc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cyc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 Filter — Pipelining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เปรียบเทียบ baseline vs PIPELINE II=1 บน 8-tap FIR filter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y[n] = Σ h[k] · x[n-k]    (k = 0..7)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Optimization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118872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A.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 cyc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B. PIPELINE II=1 + UNROLL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 cyc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4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4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ข้อสังเกต: </a:t>
            </a:r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II=1 เพิ่ม throughput 50× แต่ area เพิ่ม 4× — เป็น area vs throughput trade-off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Multiplication — Memory Optimization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ใช้ ARRAY_PARTITION แก้ปัญหา memory bottleneck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ARRAY_PARTITION variable=A complete dim=2
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ARRAY_PARTITION variable=B complete dim=1
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ARRAY_PARTITION variable=C complete dim=2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N; i++) {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j = 0; j &lt; N; j++) {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k = 0; k &lt; N; k++) {
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PIPELINE II=1
</a:t>
            </a:r>
            <a:pPr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UNROLL factor=4
</a:t>
            </a:r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sum += A[i][k] * B[k][j];
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access pattern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37160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Single port (slow)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A[i][0]→A[i][1]→...→A[i][7]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element ต่อ cycle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cycle ต่อ 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63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8-port parallel (fast)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A[i][0..7] พร้อมกัน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elements / cycle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cycle ต่อ row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Streaming — Task Pipeline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ใช้ DATAFLOW + hls::stream สร้าง streaming pipeline 3 stages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463040" cy="9144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hls::stream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1463040"/>
            <a:ext cx="1463040" cy="91440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hls::stream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1463040" cy="9144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5544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
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8229600" cy="15544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dataflow.cpp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1752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pipeline(hls::stream&lt;int&gt;&amp; in, hls::stream&lt;int&gt;&amp; out) {
</a:t>
            </a:r>
            <a:pPr indent="0" marL="0">
              <a:buNone/>
            </a:pPr>
            <a:r>
              <a:rPr lang="en-US" sz="11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DATAFLOW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hls::stream&lt;int&gt; mid1, mid2;
</a:t>
            </a:r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STREAM variable=mid1 depth=4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stage1(in, mid1);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stage2(mid1, mid2);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stage3(mid2, out);
</a:t>
            </a:r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Latency (first sample): 3 cycles  • 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Throughput: 1 sample / cycle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Strategy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C/RTL Co-Simulation — จุดแข็งของ HLS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solidFill>
            <a:srgbClr val="8BC34A"/>
          </a:solidFill>
          <a:ln w="12700">
            <a:solidFill>
              <a:srgbClr val="8BC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5087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 Algorithmic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gcc, gdb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ตรวจ logic algorithm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640080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1031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C/RTL Co-simulation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+ Verilator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Bambu generate Verilog + run testbench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0" y="2651760"/>
            <a:ext cx="5486400" cy="502920"/>
          </a:xfrm>
          <a:prstGeom prst="rect">
            <a:avLst/>
          </a:prstGeom>
          <a:solidFill>
            <a:srgbClr val="03A9F4"/>
          </a:solidFill>
          <a:ln w="12700">
            <a:solidFill>
              <a:srgbClr val="03A9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69748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RTL Standalone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Icarus / Verilator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ทดสอบ Verilog ตรง 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3246120"/>
            <a:ext cx="4572000" cy="50292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Gate-level (post-synth)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Icarus + SDF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หลัง Yosys — ใช้ SDF delay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0" y="3840480"/>
            <a:ext cx="3657600" cy="50292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3886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On Hardware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Vivado / LiteX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FPGA bitstream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กับ OpenROAD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1371600" cy="6400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1371600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931920" y="1371600"/>
            <a:ext cx="1371600" cy="64008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Yosys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1371600" cy="64008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1371600" cy="64008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GDSII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Tapeout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คำสั่งที่ใช้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Bambu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13716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Bambu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2651760"/>
            <a:ext cx="676656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2697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bambu --top-fname=matmul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--backend=OpenROAD matmul.c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Yosys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13716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918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Yosys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920240" y="3291840"/>
            <a:ext cx="676656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3375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read_liberty sg13g2.lib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read_verilog matmul.v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 -top matmul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OpenROAD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1371600" cy="54864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9319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OpenROAD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20240" y="3931920"/>
            <a:ext cx="6766560" cy="5486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3977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read_liberty sg13g2.lib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read_verilog matmul_synth.v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floorplan → place → route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PDK Examples — IHP SG13G2 &amp; SKY130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IHP SG13G2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nm SiGe BiCMOS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IHP Microelectronics (Germany)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cells: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sg13g2_stdcell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Vth options: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RVT, LVT, HVT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+ RF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LibreLane: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"PDK": "ihp-sg13g2"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SKY130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0020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 nm CMOS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SkyWater Technology (US)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cells: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sky130_fd_sc_hd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available: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hd, hs, lp, hdll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purpose
</a:t>
            </a:r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LibreLane: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"PDK": "sky130A"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051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ก่อน Optimize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เขียน C → test → measure → optimize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อย่า optimize แบบ blind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548640" cy="54864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764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Arbitrary Precision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0391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ap_int&lt;8&gt; แทน int เมื่อ bit-width พอ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ลด area ~30-50%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548640" cy="548640"/>
          </a:xfrm>
          <a:prstGeom prst="ellipse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237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4780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ก่อน Pipeline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7523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report ดูว่า bottleneck อยู่ที่ไหน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(compute, memory, หรือ I/O)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548640" cy="54864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1912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Self-Checking Testbench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6557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0 = PASS, !=0 = FAIL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จะ check ให้อัตโนมัติ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950208"/>
            <a:ext cx="548640" cy="548640"/>
          </a:xfrm>
          <a:prstGeom prst="ellipse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502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9044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หลายระดับ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4178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test → Co-sim → Post-synth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อย่า skip ขั้นใดขั้นหนึ่ง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Pitfalls ที่พบบ่อย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bound ไม่คงที่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แก้: </a:t>
            </a:r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#pragma HLS LOOP_TRIPCOUNT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83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8288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aliasing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แก้: </a:t>
            </a:r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restrict keyword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688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access conflict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แก้: </a:t>
            </a:r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ใช้ shift register หรือ ARRAY_PARTITION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54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32004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ไม่พอ (II ไม่ลด)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แก้: </a:t>
            </a:r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 UNROLL/PARTITION หรือยอมรับ II สูง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94360"/>
          </a:xfrm>
          <a:prstGeom prst="rect">
            <a:avLst/>
          </a:prstGeom>
          <a:solidFill>
            <a:srgbClr val="FFEBEE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8404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ใน synthesized function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แก้: </a:t>
            </a:r>
            <a:pPr indent="0" marL="0">
              <a:buNone/>
            </a:pPr>
            <a:r>
              <a:rPr lang="en-US" sz="11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เอา printf ออกจาก top function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Tuning Recipe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เริ่มจาก baseline แล้วค่อย ๆ เพิ่ม optimization ทีละขั้น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เขียน C +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5087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ทำงานถูกต้องก่อน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64008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57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 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PIPELINE II=1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52160" y="2103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throughput, ↑ area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64008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697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PARTITION  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ARRAY_PARTITION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52160" y="26974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mem bandwidth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64008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291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UNROLL  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UNROLL factor=N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852160" y="32918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parallelism, ↑↑ area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640080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404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3886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DATAFLOW  </a:t>
            </a:r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HLS DATAFLOW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852160" y="3886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task-level parallelism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 C with gcc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14300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143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gcc -O2 test.c -o test &amp;&amp; ./test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Bambu co-simulation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691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bambu --top-fname=dut --simulate dut.c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resource report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24028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2240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HLS_output/HLS_synthesis_report.txt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generated Verilog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297680" y="278892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less HLS_output/verilog/dut.v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waveform for cycle-accurate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297680" y="333756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0" y="3337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bambu --simulate --generate-vcd --vcd-fname=trace.vcd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05840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waveform in GTKWave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297680" y="3886200"/>
            <a:ext cx="4389120" cy="36576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gtkwave trace.vcd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Cheat-Sheet: Directives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731520"/>
                <a:gridCol w="822960"/>
                <a:gridCol w="2468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 When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PIPELINE II=N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ทำ loop ใหม่ทุก N cycles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inner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196F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UNROLL factor=N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สร้าง N× hardware copies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4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loop เล็ก, ต้องการ throughput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98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ARRAY_PARTITION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แบ่ง array → multi-port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4433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bottleneck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C27B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DATAFLOW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ทำ function ขนานกัน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ระหว่าง function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C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INLINE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แทน call ด้วย body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helper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9554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LOOP_FLATTEN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รวม nested loop เป็น loop เดียว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+/-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CAF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nested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Sobel Edge Detector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64×64 grayscale image (8-bit pixel)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64×64 edge magnitude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Kernels: Gx, Gy (3×3 Sobel)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= |Gx| + |Gy| (fast approx)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งานที่ต้องส่ง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Source code C/C++ (sobel.c)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Bambu HLS report (resource utilization)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Generated Verilog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Resource table (LUT, FF, DSP, BRAM)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(Bonus) Integrate กับ OpenROAD ใช้ IHP SG13G2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HLS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https://panda.dei.polimi.it/?page_id=31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เอกสาร + source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Framework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github.com/ferrandi/PandA-bambu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GitHub repository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Xilinx UG902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docs.xilinx.com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Vitis HLS User Guide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openroad.readthedocs.io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PnR tool documentation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IHP Open PDK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github.com/IHP-GmbH/IHP-Open-PDK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SG13G2 PDK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SKY130 PDK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skywater-pdk.readthedocs.io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SKY130 documentation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COCOTB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docs.cocotb.org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Python-based verification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429000"/>
            <a:ext cx="3931920" cy="685800"/>
          </a:xfrm>
          <a:prstGeom prst="rect">
            <a:avLst/>
          </a:prstGeom>
          <a:solidFill>
            <a:srgbClr val="FAFA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Coussy et al.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"High-Level Synthesis" (Springer 2008)</a:t>
            </a:r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Academic textbook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C/C++ to Silicon — Happy HLS Coding!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Bambu HLS  •  Yosys  •  OpenROAD  •  Icarus  •  COCOTB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ASIC Design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High-Level Synthesis</dc:title>
  <dc:subject>PptxGenJS Presentation</dc:subject>
  <dc:creator>Training Course</dc:creator>
  <cp:lastModifiedBy>Training Course</cp:lastModifiedBy>
  <cp:revision>1</cp:revision>
  <dcterms:created xsi:type="dcterms:W3CDTF">2026-09-02T01:43:42Z</dcterms:created>
  <dcterms:modified xsi:type="dcterms:W3CDTF">2026-09-02T01:43:42Z</dcterms:modified>
</cp:coreProperties>
</file>